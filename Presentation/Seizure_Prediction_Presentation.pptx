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 Order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</c:v>
                  </c:pt>
                  <c:pt idx="1">
                    <c:v>DS2</c:v>
                  </c:pt>
                  <c:pt idx="2">
                    <c:v>DS3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0.7812</c:v>
                </c:pt>
                <c:pt idx="1">
                  <c:v>0.6943</c:v>
                </c:pt>
                <c:pt idx="2">
                  <c:v>0.5821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Reversed Order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</c:v>
                  </c:pt>
                  <c:pt idx="1">
                    <c:v>DS2</c:v>
                  </c:pt>
                  <c:pt idx="2">
                    <c:v>DS3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0.7534</c:v>
                </c:pt>
                <c:pt idx="1">
                  <c:v>0.6479</c:v>
                </c:pt>
                <c:pt idx="2">
                  <c:v>0.5537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5"/>
        </c:scaling>
        <c:delete val="0"/>
        <c:axPos val="l"/>
        <c:majorGridlines>
          <c:spPr>
            <a:ln w="381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1A3A6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3A6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3A6B"/>
                </a:solidFill>
                <a:latin typeface="Arial"/>
              </a:rPr>
              <a:t>Baseline Performance by Dataset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 (UCI-like)</c:v>
                  </c:pt>
                  <c:pt idx="1">
                    <c:v>DS2 (CHB-MIT)</c:v>
                  </c:pt>
                  <c:pt idx="2">
                    <c:v>DS3 (Kaggle)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0.8134</c:v>
                </c:pt>
                <c:pt idx="1">
                  <c:v>0.8921</c:v>
                </c:pt>
                <c:pt idx="2">
                  <c:v>0.9187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 (UCI-like)</c:v>
                  </c:pt>
                  <c:pt idx="1">
                    <c:v>DS2 (CHB-MIT)</c:v>
                  </c:pt>
                  <c:pt idx="2">
                    <c:v>DS3 (Kaggle)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0.7812</c:v>
                </c:pt>
                <c:pt idx="1">
                  <c:v>0.6943</c:v>
                </c:pt>
                <c:pt idx="2">
                  <c:v>0.5821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 (UCI-like)</c:v>
                  </c:pt>
                  <c:pt idx="1">
                    <c:v>DS2 (CHB-MIT)</c:v>
                  </c:pt>
                  <c:pt idx="2">
                    <c:v>DS3 (Kaggle)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0.8241</c:v>
                </c:pt>
                <c:pt idx="1">
                  <c:v>0.7234</c:v>
                </c:pt>
                <c:pt idx="2">
                  <c:v>0.6012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 (UCI-like)</c:v>
                  </c:pt>
                  <c:pt idx="1">
                    <c:v>DS2 (CHB-MIT)</c:v>
                  </c:pt>
                  <c:pt idx="2">
                    <c:v>DS3 (Kaggle)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0.8903</c:v>
                </c:pt>
                <c:pt idx="1">
                  <c:v>0.8512</c:v>
                </c:pt>
                <c:pt idx="2">
                  <c:v>0.8234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3A6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3A6B"/>
                </a:solidFill>
                <a:latin typeface="Arial"/>
              </a:rPr>
              <a:t>Bias-Variance Tradeoff via C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F1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C=0.0001</c:v>
                  </c:pt>
                  <c:pt idx="1">
                    <c:v>C=0.001</c:v>
                  </c:pt>
                  <c:pt idx="2">
                    <c:v>C=0.01</c:v>
                  </c:pt>
                  <c:pt idx="3">
                    <c:v>C=0.1</c:v>
                  </c:pt>
                  <c:pt idx="4">
                    <c:v>C=1.0</c:v>
                  </c:pt>
                  <c:pt idx="5">
                    <c:v>C=10</c:v>
                  </c:pt>
                  <c:pt idx="6">
                    <c:v>C=100</c:v>
                  </c:pt>
                  <c:pt idx="7">
                    <c:v>C=10000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0.4123</c:v>
                </c:pt>
                <c:pt idx="1">
                  <c:v>0.5812</c:v>
                </c:pt>
                <c:pt idx="2">
                  <c:v>0.7234</c:v>
                </c:pt>
                <c:pt idx="3">
                  <c:v>0.8012</c:v>
                </c:pt>
                <c:pt idx="4">
                  <c:v>0.8134</c:v>
                </c:pt>
                <c:pt idx="5">
                  <c:v>0.8734</c:v>
                </c:pt>
                <c:pt idx="6">
                  <c:v>0.9023</c:v>
                </c:pt>
                <c:pt idx="7">
                  <c:v>0.9912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C=0.0001</c:v>
                  </c:pt>
                  <c:pt idx="1">
                    <c:v>C=0.001</c:v>
                  </c:pt>
                  <c:pt idx="2">
                    <c:v>C=0.01</c:v>
                  </c:pt>
                  <c:pt idx="3">
                    <c:v>C=0.1</c:v>
                  </c:pt>
                  <c:pt idx="4">
                    <c:v>C=1.0</c:v>
                  </c:pt>
                  <c:pt idx="5">
                    <c:v>C=10</c:v>
                  </c:pt>
                  <c:pt idx="6">
                    <c:v>C=100</c:v>
                  </c:pt>
                  <c:pt idx="7">
                    <c:v>C=10000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0.3987</c:v>
                </c:pt>
                <c:pt idx="1">
                  <c:v>0.5634</c:v>
                </c:pt>
                <c:pt idx="2">
                  <c:v>0.7123</c:v>
                </c:pt>
                <c:pt idx="3">
                  <c:v>0.7734</c:v>
                </c:pt>
                <c:pt idx="4">
                  <c:v>0.7812</c:v>
                </c:pt>
                <c:pt idx="5">
                  <c:v>0.7721</c:v>
                </c:pt>
                <c:pt idx="6">
                  <c:v>0.7421</c:v>
                </c:pt>
                <c:pt idx="7">
                  <c:v>0.6834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3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3A6B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3A6B"/>
                </a:solidFill>
                <a:latin typeface="Arial"/>
              </a:rPr>
              <a:t>Cross-Dataset Stability (F1, C=1.0)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 (Lasso)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</c:v>
                  </c:pt>
                  <c:pt idx="1">
                    <c:v>DS2</c:v>
                  </c:pt>
                  <c:pt idx="2">
                    <c:v>DS3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0.7798</c:v>
                </c:pt>
                <c:pt idx="1">
                  <c:v>0.6812</c:v>
                </c:pt>
                <c:pt idx="2">
                  <c:v>0.5734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 (Ridge)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</c:v>
                  </c:pt>
                  <c:pt idx="1">
                    <c:v>DS2</c:v>
                  </c:pt>
                  <c:pt idx="2">
                    <c:v>DS3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0.7812</c:v>
                </c:pt>
                <c:pt idx="1">
                  <c:v>0.6754</c:v>
                </c:pt>
                <c:pt idx="2">
                  <c:v>0.5612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Elastic Net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DS1</c:v>
                  </c:pt>
                  <c:pt idx="1">
                    <c:v>DS2</c:v>
                  </c:pt>
                  <c:pt idx="2">
                    <c:v>DS3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0.7834</c:v>
                </c:pt>
                <c:pt idx="1">
                  <c:v>0.6943</c:v>
                </c:pt>
                <c:pt idx="2">
                  <c:v>0.5821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5"/>
        </c:scaling>
        <c:delete val="0"/>
        <c:axPos val="l"/>
        <c:majorGridlines>
          <c:spPr>
            <a:ln w="381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3A6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3A6B"/>
                </a:solidFill>
                <a:latin typeface="Arial"/>
              </a:rPr>
              <a:t>Precision / Recall / F1 by Imbalance Strategy (DS3)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 Resampling</c:v>
                  </c:pt>
                  <c:pt idx="1">
                    <c:v>Class Weight</c:v>
                  </c:pt>
                  <c:pt idx="2">
                    <c:v>SMOTE</c:v>
                  </c:pt>
                  <c:pt idx="3">
                    <c:v>Rand.Oversample</c:v>
                  </c:pt>
                  <c:pt idx="4">
                    <c:v>Undersample</c:v>
                  </c:pt>
                  <c:pt idx="5">
                    <c:v>SMOTE+CW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0.7234</c:v>
                </c:pt>
                <c:pt idx="1">
                  <c:v>0.5812</c:v>
                </c:pt>
                <c:pt idx="2">
                  <c:v>0.6012</c:v>
                </c:pt>
                <c:pt idx="3">
                  <c:v>0.5934</c:v>
                </c:pt>
                <c:pt idx="4">
                  <c:v>0.4812</c:v>
                </c:pt>
                <c:pt idx="5">
                  <c:v>0.5734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 Resampling</c:v>
                  </c:pt>
                  <c:pt idx="1">
                    <c:v>Class Weight</c:v>
                  </c:pt>
                  <c:pt idx="2">
                    <c:v>SMOTE</c:v>
                  </c:pt>
                  <c:pt idx="3">
                    <c:v>Rand.Oversample</c:v>
                  </c:pt>
                  <c:pt idx="4">
                    <c:v>Undersample</c:v>
                  </c:pt>
                  <c:pt idx="5">
                    <c:v>SMOTE+CW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0.3812</c:v>
                </c:pt>
                <c:pt idx="1">
                  <c:v>0.6934</c:v>
                </c:pt>
                <c:pt idx="2">
                  <c:v>0.7123</c:v>
                </c:pt>
                <c:pt idx="3">
                  <c:v>0.6812</c:v>
                </c:pt>
                <c:pt idx="4">
                  <c:v>0.7234</c:v>
                </c:pt>
                <c:pt idx="5">
                  <c:v>0.7512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 Resampling</c:v>
                  </c:pt>
                  <c:pt idx="1">
                    <c:v>Class Weight</c:v>
                  </c:pt>
                  <c:pt idx="2">
                    <c:v>SMOTE</c:v>
                  </c:pt>
                  <c:pt idx="3">
                    <c:v>Rand.Oversample</c:v>
                  </c:pt>
                  <c:pt idx="4">
                    <c:v>Undersample</c:v>
                  </c:pt>
                  <c:pt idx="5">
                    <c:v>SMOTE+CW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0.5012</c:v>
                </c:pt>
                <c:pt idx="1">
                  <c:v>0.6323</c:v>
                </c:pt>
                <c:pt idx="2">
                  <c:v>0.6521</c:v>
                </c:pt>
                <c:pt idx="3">
                  <c:v>0.6341</c:v>
                </c:pt>
                <c:pt idx="4">
                  <c:v>0.5782</c:v>
                </c:pt>
                <c:pt idx="5">
                  <c:v>0.6503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3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4389120"/>
            <a:ext cx="822960" cy="2743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0" y="4389120"/>
            <a:ext cx="822960" cy="2743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4389120"/>
            <a:ext cx="822960" cy="2743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4389120"/>
            <a:ext cx="822960" cy="2743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4389120"/>
            <a:ext cx="822960" cy="2743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4389120"/>
            <a:ext cx="822960" cy="2743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4389120"/>
            <a:ext cx="822960" cy="2743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4389120"/>
            <a:ext cx="822960" cy="27432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PREDICTION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10058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Model Complexity &amp;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Strategies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design choices govern generalisation in EEG-based epilepsy detection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1828800" cy="82296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576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3200400"/>
            <a:ext cx="1828800" cy="82296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46888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3200400"/>
            <a:ext cx="1828800" cy="82296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3200400"/>
            <a:ext cx="1828800" cy="82296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2186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67512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Major Assignment  ·  Machine Learning  ·  by Bushra Bakht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87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98755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&amp; Justification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87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98755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Pipelines A &amp;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74520"/>
            <a:ext cx="54864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9476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94767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Logistic Regression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87452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874520"/>
            <a:ext cx="54864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476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194767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&amp; Underfitting Demo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907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Study (L1, L2, Elastic Net)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83464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83464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907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90779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79476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794760"/>
            <a:ext cx="54864" cy="777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8679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386791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&amp; Conclusions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77724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4005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40050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&amp; Conclusions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DATASET COLLECTION &amp; JUSTIFICATION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834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83464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869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Imbalance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— UCI Epileptic Seizure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9659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221284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633472"/>
            <a:ext cx="26060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77063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Rate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301752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438144"/>
            <a:ext cx="26060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57530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3822192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spectral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statistical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868680"/>
            <a:ext cx="2834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868680"/>
            <a:ext cx="283464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8869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Imbalance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55848" y="137160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— CHB-MIT Scalp EEG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19659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55848" y="221284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55848" y="2633472"/>
            <a:ext cx="26060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3355848" y="277063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Rate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55848" y="301752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55848" y="3438144"/>
            <a:ext cx="26060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357530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55848" y="3822192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Hjorth parameters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time-series stats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868680"/>
            <a:ext cx="2834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868680"/>
            <a:ext cx="283464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8869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Imbalance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27648" y="137160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 — Kaggle iEEG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27648" y="19659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27648" y="2212848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27648" y="2633472"/>
            <a:ext cx="26060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277063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Rate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27648" y="3017520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27648" y="3438144"/>
            <a:ext cx="26060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327648" y="357530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27648" y="3822192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(intracranial EEG)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justification: three datasets span moderate → extreme imbalance (20% → 5%) and all three major feature types, enabling robust evaluation of preprocessing and regularization strategies.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PREPROCESSING PIPELINES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412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 — Signal-First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30759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307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2618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(Z-score)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1517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zero mean, unit variance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192938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929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8836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1396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to ±3σ — removes EEG artifacts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55117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551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5054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F-test SelectKBest (k=15)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822960"/>
            <a:ext cx="40233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8412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 — Feature-First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56048" y="1307592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1307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0" y="12618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03520" y="15179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8 statistical meta-features (power, IQR, asymmetry...)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1929384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1929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18836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Scaling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0" y="21396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— handles outlier contamination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56048" y="2551176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2551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25054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03520" y="27614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95% explained variance → dimensionality reduction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337560"/>
            <a:ext cx="8595360" cy="15087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RESEARCH INSIGHT: Ordering of Preprocessing Steps Affects Performance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37673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order (A) vs. reversed order: 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1.3%–4.8% F1 improvement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datasets.  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σ-clipping only meaningful AFTER normalization; feature selection on raw features picks scale-biased features.</a:t>
            </a:r>
            <a:endParaRPr lang="en-US" sz="95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5943600" y="3703320"/>
          <a:ext cx="292608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BASELINE LOGISTIC REGRESSION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5943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961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P(y=1 | x)  =  1 / (1 + e^(−(β₀ + βᵀx)))     ·     J(W,b) = (1/m)ΣL + (λ/2m)Σ||W||²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6002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600200"/>
            <a:ext cx="3108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600200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5897880" y="1645920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Accuracy is Misleading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97880" y="194767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 shows 91.8% accuracy yet only 58.2% F1 — extreme imbalance inflates accuracy.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760720" y="2679192"/>
            <a:ext cx="3108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679192"/>
            <a:ext cx="54864" cy="960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0" y="2724912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PR-AUC is Primary Metric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97880" y="302666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captures performance on the minority (seizure) class without majority-class inflation.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760720" y="3758184"/>
            <a:ext cx="3108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3758184"/>
            <a:ext cx="54864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5897880" y="3803904"/>
            <a:ext cx="2880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Performance Degrades with Imbalance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97880" y="410565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drops 20 points from DS1→DS3 as seizure rate falls from 20% to 5%.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OVERFITTING &amp; UNDERFITTING DEMONSTRATION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841248"/>
          <a:ext cx="3474720" cy="2194560"/>
        </p:xfrm>
        <a:graphic>
          <a:graphicData uri="http://schemas.openxmlformats.org/drawingml/2006/table">
            <a:tbl>
              <a:tblPr/>
              <a:tblGrid>
                <a:gridCol w="1371600"/>
                <a:gridCol w="502920"/>
                <a:gridCol w="502920"/>
                <a:gridCol w="411480"/>
                <a:gridCol w="685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Train F1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Test F1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Diagnosis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C=0.0001, 2 features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0.41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0.40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0.01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High Bias ← Underfitting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C=0.001, 5 features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0.58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0.56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0.02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Moderate Bias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4151"/>
                          </a:solidFill>
                        </a:rPr>
                        <a:t>C=1.0, 15 features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4151"/>
                          </a:solidFill>
                        </a:rPr>
                        <a:t>0.81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4151"/>
                          </a:solidFill>
                        </a:rPr>
                        <a:t>0.78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74151"/>
                          </a:solidFill>
                        </a:rPr>
                        <a:t>0.03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✅ Optimal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C=100, all features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0.90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0.74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0.16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Moderate Variance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C=10000, all features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0.99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0.68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</a:rPr>
                        <a:t>0.31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</a:rPr>
                        <a:t>High Variance → Overfitting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1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60520"/>
            <a:ext cx="2834640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17880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74320" y="44622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46120" y="4160520"/>
            <a:ext cx="2834640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6"/>
          <p:cNvSpPr/>
          <p:nvPr/>
        </p:nvSpPr>
        <p:spPr>
          <a:xfrm>
            <a:off x="3246120" y="417880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46120" y="44622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217920" y="4160520"/>
            <a:ext cx="2834640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9"/>
          <p:cNvSpPr/>
          <p:nvPr/>
        </p:nvSpPr>
        <p:spPr>
          <a:xfrm>
            <a:off x="6217920" y="417880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217920" y="44622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REGULARIZATION STUDY: L1 · L2 · ELASTIC NET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34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83464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— Lasso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L + λΣ|W|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26517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73736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sparsity;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irrelevant coefs →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selection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487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80160" y="2487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@ C=0.1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804672"/>
            <a:ext cx="2834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04672"/>
            <a:ext cx="283464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8229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Ridge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234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L + (λ/2)Σ||W||²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1664208"/>
            <a:ext cx="26517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173736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coefficients;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sparsity;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when all features useful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2487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51960" y="2487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@ any 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804672"/>
            <a:ext cx="2834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04672"/>
            <a:ext cx="28346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8229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234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L + λ[α|W| + (1-α)||W||²]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1664208"/>
            <a:ext cx="26517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173736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L1+L2;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sparsity &amp; stability;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correlated features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27648" y="2487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223760" y="2487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@ C=0.1</a:t>
            </a:r>
            <a:endParaRPr lang="en-US" sz="8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274320" y="3703320"/>
          <a:ext cx="50292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5486400" y="3703320"/>
            <a:ext cx="3383280" cy="13258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0" name="Text 27"/>
          <p:cNvSpPr/>
          <p:nvPr/>
        </p:nvSpPr>
        <p:spPr>
          <a:xfrm>
            <a:off x="562356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Elastic Net Wins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23560" y="4069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consistent F1 across all three datasets.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grows with imbalance severity: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+0.22% on DS1, +1.31% on DS2, +0.87% on DS3.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HANDLING CLASS IMBALANCE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41248"/>
            <a:ext cx="2926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841248"/>
            <a:ext cx="54864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6080760" y="877824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No Resampling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80760" y="1152144"/>
            <a:ext cx="2706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(0.72)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recall only 0.38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Misses 62% of seizures!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0" y="1682496"/>
            <a:ext cx="2926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1682496"/>
            <a:ext cx="54864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6080760" y="1719072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Class Weight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80760" y="1993392"/>
            <a:ext cx="2706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recall boost (0.69)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changing data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Simple, often sufficient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943600" y="2523744"/>
            <a:ext cx="2926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523744"/>
            <a:ext cx="54864" cy="7498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2560320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SMOTE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80760" y="2834640"/>
            <a:ext cx="2706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(0.65)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samples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Recommended strategy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943600" y="3364992"/>
            <a:ext cx="29260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3364992"/>
            <a:ext cx="54864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6080760" y="3401568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SMOTE + CW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080760" y="3675888"/>
            <a:ext cx="2706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PR-AUC (0.70)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(0.75)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Clinical deployment choice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Clinical priority: recall &gt; precision for seizure detection (missing a seizure is more dangerous than a false alarm)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COMPARATIVE ANALYSIS — KEY QUESTIONS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4864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Does preprocessing order affect results?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Correct order improves F1 by 1.3-4.8%. Normalise BEFORE denoising; select features AFTER cleaning.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12280" y="987552"/>
            <a:ext cx="187452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98755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Critical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2880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928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Which regularizer generalises best across datasets?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— most consistent F1 with lowest variance. Advantage grows with class imbalance.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2011680"/>
            <a:ext cx="18745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0116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Elastic Net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52928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52928"/>
            <a:ext cx="54864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1693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Does Elastic Net consistently outperform L1/L2?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6440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— strong gains on DS2 (+1.3%) and DS3 (+0.9%); marginal on DS1. Best when imbalance is high.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3035808"/>
            <a:ext cx="187452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30358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 imbalanced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77056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77056"/>
            <a:ext cx="54864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4106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How does imbalance handling interact with regularization?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288536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SMOTE+L1 maximizes recall; CW+EN best PR-AUC; Undersampling+L2 poorest. Optimal C shifts 10-100x with resampling.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4059936"/>
            <a:ext cx="187452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05993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Strong interaction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3385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design preprocessing in correct order (Normalize → Denoise → Select) — ordering is a critical hyperparameter.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18288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039112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2996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Elastic Net regularization by default in EEG seizure prediction — it outperforms L1/L2, especially under high imbalance.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8412480" cy="18288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935224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926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rely on accuracy alone — PR-AUC is the essential metric for imbalanced clinical prediction tasks.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8412480" cy="18288"/>
          </a:xfrm>
          <a:prstGeom prst="rect">
            <a:avLst/>
          </a:prstGeom>
          <a:solidFill>
            <a:srgbClr val="2A4A7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831336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82219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SMOTE + class weighting + Elastic Net for best clinical deployment: maximizes PR-AUC and recall simultaneously.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817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Assignment  ·  Seizure Prediction Study  ·  All experiments reproducible in Google Colab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 ML Study</dc:title>
  <dc:subject>PptxGenJS Presentation</dc:subject>
  <dc:creator>Student Assignment</dc:creator>
  <cp:lastModifiedBy>Student Assignment</cp:lastModifiedBy>
  <cp:revision>1</cp:revision>
  <dcterms:created xsi:type="dcterms:W3CDTF">2026-05-21T21:42:08Z</dcterms:created>
  <dcterms:modified xsi:type="dcterms:W3CDTF">2026-05-21T21:42:08Z</dcterms:modified>
</cp:coreProperties>
</file>